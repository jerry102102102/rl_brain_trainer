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264653"/>
                </a:solidFill>
              </a:rPr>
              <a:t>Modular L1-to-RL
Manipulation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E76F51"/>
                </a:solidFill>
              </a:rPr>
              <a:t>with Route-Curriculum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166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E1E1E"/>
                </a:solidFill>
              </a:rPr>
              <a:t>ENPM690 Final Project · Che-Jung Chuang · May 2026 · Robot Brain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846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Kitchen tasks combine semantics, motion, and execution safety.</a:t>
            </a:r>
          </a:p>
          <a:p>
            <a:pPr>
              <a:defRPr sz="2000"/>
            </a:pPr>
            <a:r>
              <a:t>A plate/tray task needs object, source, target, pose, and constraints.</a:t>
            </a:r>
          </a:p>
          <a:p>
            <a:pPr>
              <a:defRPr sz="2000"/>
            </a:pPr>
            <a:r>
              <a:t>A monolithic end-to-end loop hides failure causes.</a:t>
            </a:r>
          </a:p>
        </p:txBody>
      </p:sp>
      <p:pic>
        <p:nvPicPr>
          <p:cNvPr id="5" name="Picture 4" descr="final_architecture_l1_l2_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52160" cy="2687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Original L1/L2/L3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L1: Qwen semantic intent and structured tool calls.</a:t>
            </a:r>
          </a:p>
          <a:p>
            <a:pPr>
              <a:defRPr sz="2200"/>
            </a:pPr>
            <a:r>
              <a:t>L2: learned RL skill policy.</a:t>
            </a:r>
          </a:p>
          <a:p>
            <a:pPr>
              <a:defRPr sz="2200"/>
            </a:pPr>
            <a:r>
              <a:t>L3: deterministic execution and safety boundary.</a:t>
            </a:r>
          </a:p>
          <a:p>
            <a:pPr>
              <a:defRPr sz="2200"/>
            </a:pPr>
            <a:r>
              <a:t>The LLM/VLM never outputs raw joint commands.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Phase 1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Gymnasium environment, training loop, and deterministic eval were operational.</a:t>
            </a:r>
          </a:p>
          <a:p>
            <a:pPr>
              <a:defRPr sz="2100"/>
            </a:pPr>
            <a:r>
              <a:t>Approach and dock policies had isolated progress.</a:t>
            </a:r>
          </a:p>
          <a:p>
            <a:pPr>
              <a:defRPr sz="2100"/>
            </a:pPr>
            <a:r>
              <a:t>Switched integration was unreliable.</a:t>
            </a:r>
          </a:p>
          <a:p>
            <a:pPr>
              <a:defRPr sz="2100"/>
            </a:pPr>
            <a:r>
              <a:t>VLM/Qwen layer had not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76F51"/>
                </a:solidFill>
              </a:rPr>
              <a:t>Phase 1 proved infrastructure, not final integrated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Phase 2 Simplification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Explored Dock-Coarse, Bridge, classifier, acceptance map, and finisher adaptation.</a:t>
            </a:r>
          </a:p>
          <a:p>
            <a:pPr>
              <a:defRPr sz="2200"/>
            </a:pPr>
            <a:r>
              <a:t>Ablation showed extra modules could degrade clean handoff states.</a:t>
            </a:r>
          </a:p>
          <a:p>
            <a:pPr>
              <a:defRPr sz="2200"/>
            </a:pPr>
            <a:r>
              <a:t>Final mainline simplified to Approach -&gt; Finisher.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Kinematic Skill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5050"/>
                </a:solidFill>
              </a:rPr>
              <a:t>Hardest current workspace stage reaches 93% success.</a:t>
            </a:r>
          </a:p>
        </p:txBody>
      </p:sp>
      <p:pic>
        <p:nvPicPr>
          <p:cNvPr id="5" name="Picture 4" descr="workspace_sweep_stage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577840" cy="3053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46304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Stage 5 success: 0.93</a:t>
            </a:r>
          </a:p>
          <a:p>
            <a:pPr>
              <a:defRPr sz="2100"/>
            </a:pPr>
            <a:r>
              <a:t>Final position error: 2.89 mm</a:t>
            </a:r>
          </a:p>
          <a:p>
            <a:pPr>
              <a:defRPr sz="2100"/>
            </a:pPr>
            <a:r>
              <a:t>Final orientation error: 0.0208 rad</a:t>
            </a:r>
          </a:p>
          <a:p>
            <a:pPr>
              <a:defRPr sz="2100"/>
            </a:pPr>
            <a:r>
              <a:t>Skill stack works in trained kinematic workspace.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Qwen L1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Command: move tray1 from shelf_A1 to shelf_B1.</a:t>
            </a:r>
          </a:p>
          <a:p>
            <a:pPr>
              <a:defRPr sz="2100"/>
            </a:pPr>
            <a:r>
              <a:t>Qwen calls resolve_intent_packet.</a:t>
            </a:r>
          </a:p>
          <a:p>
            <a:pPr>
              <a:defRPr sz="2100"/>
            </a:pPr>
            <a:r>
              <a:t>Bridge returns IntentPacket and APPROACH -&gt; FINISHER request.</a:t>
            </a:r>
          </a:p>
          <a:p>
            <a:pPr>
              <a:defRPr sz="2100"/>
            </a:pPr>
            <a:r>
              <a:t>Qwen does not emit raw joint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Route Curriculum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4241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The policy was precise locally but failed scene-level transport.</a:t>
            </a:r>
          </a:p>
          <a:p>
            <a:pPr>
              <a:defRPr sz="2200"/>
            </a:pPr>
            <a:r>
              <a:t>Dense q_goal is used as target observation, not command.</a:t>
            </a:r>
          </a:p>
          <a:p>
            <a:pPr>
              <a:defRPr sz="2200"/>
            </a:pPr>
            <a:r>
              <a:t>Original full route success: 0.0435.</a:t>
            </a:r>
          </a:p>
          <a:p>
            <a:pPr>
              <a:defRPr sz="2200"/>
            </a:pPr>
            <a:r>
              <a:t>Original longest prefix: 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Route Curriculum Result</a:t>
            </a:r>
          </a:p>
        </p:txBody>
      </p:sp>
      <p:pic>
        <p:nvPicPr>
          <p:cNvPr id="4" name="Picture 3" descr="route_prefix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52160" cy="3105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46304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Prefix120 sequential success: 1.0</a:t>
            </a:r>
          </a:p>
          <a:p>
            <a:pPr>
              <a:defRPr sz="2100"/>
            </a:pPr>
            <a:r>
              <a:t>Full probe success: 0.4741</a:t>
            </a:r>
          </a:p>
          <a:p>
            <a:pPr>
              <a:defRPr sz="2100"/>
            </a:pPr>
            <a:r>
              <a:t>Full probe longest prefix: 170</a:t>
            </a:r>
          </a:p>
          <a:p>
            <a:pPr>
              <a:defRPr sz="2100"/>
            </a:pPr>
            <a:r>
              <a:t>Route curriculum expands reliable route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What Still Fails</a:t>
            </a:r>
          </a:p>
        </p:txBody>
      </p:sp>
      <p:pic>
        <p:nvPicPr>
          <p:cNvPr id="4" name="Picture 3" descr="route_curriculum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52160" cy="3105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417320"/>
            <a:ext cx="4754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Full 483-waypoint route is not solved.</a:t>
            </a:r>
          </a:p>
          <a:p>
            <a:pPr>
              <a:defRPr sz="2000"/>
            </a:pPr>
            <a:r>
              <a:t>Prefix180 fine-tuning can forget early route behavior.</a:t>
            </a:r>
          </a:p>
          <a:p>
            <a:pPr>
              <a:defRPr sz="2000"/>
            </a:pPr>
            <a:r>
              <a:t>Sampled success can be misleading.</a:t>
            </a:r>
          </a:p>
          <a:p>
            <a:pPr>
              <a:defRPr sz="2000"/>
            </a:pPr>
            <a:r>
              <a:t>Need sequential-gated checkpoint selection.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Demo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Demo 1: Qwen bridge -&gt; structured IntentPacket.</a:t>
            </a:r>
          </a:p>
          <a:p>
            <a:pPr>
              <a:defRPr sz="2200"/>
            </a:pPr>
            <a:r>
              <a:t>Demo 2: kinematic Approach -&gt; Finisher skill stack.</a:t>
            </a:r>
          </a:p>
          <a:p>
            <a:pPr>
              <a:defRPr sz="2200"/>
            </a:pPr>
            <a:r>
              <a:t>Demo 3: route curriculum numeric validation.</a:t>
            </a:r>
          </a:p>
          <a:p>
            <a:pPr>
              <a:defRPr sz="2200"/>
            </a:pPr>
            <a:r>
              <a:t>Each demo has a runnable script and fallback summary.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64653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Modular L1-to-RL stack demonstrated.</a:t>
            </a:r>
          </a:p>
          <a:p>
            <a:pPr>
              <a:defRPr sz="2100"/>
            </a:pPr>
            <a:r>
              <a:t>Approach -&gt; Finisher works in trained kinematic workspace.</a:t>
            </a:r>
          </a:p>
          <a:p>
            <a:pPr>
              <a:defRPr sz="2100"/>
            </a:pPr>
            <a:r>
              <a:t>Qwen bridge validates semantic-to-RL interface.</a:t>
            </a:r>
          </a:p>
          <a:p>
            <a:pPr>
              <a:defRPr sz="2100"/>
            </a:pPr>
            <a:r>
              <a:t>Route curriculum extends local correction to long-prefix route following.</a:t>
            </a:r>
          </a:p>
          <a:p>
            <a:pPr>
              <a:defRPr sz="2100"/>
            </a:pPr>
            <a:r>
              <a:t>Full Gazebo kitchen transport remains future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020"/>
                </a:solidFill>
              </a:defRPr>
            </a:pPr>
            <a:r>
              <a:t>Real Gazebo Evidence</a:t>
            </a:r>
          </a:p>
        </p:txBody>
      </p:sp>
      <p:pic>
        <p:nvPicPr>
          <p:cNvPr id="4" name="Picture 3" descr="real_gz_camera_phase3a_frame_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846320" cy="3634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Recorded from Gazebo camera topic /v5/cam/side/rgb.</a:t>
            </a:r>
          </a:p>
          <a:p>
            <a:pPr>
              <a:defRPr sz="1700"/>
            </a:pPr>
            <a:r>
              <a:t>Frozen Approach -&gt; Finisher sends goals through ROS action path.</a:t>
            </a:r>
          </a:p>
          <a:p>
            <a:pPr>
              <a:defRPr sz="1700"/>
            </a:pPr>
            <a:r>
              <a:t>60/60 controller goals executed successfully.</a:t>
            </a:r>
          </a:p>
          <a:p>
            <a:pPr>
              <a:defRPr sz="1700"/>
            </a:pPr>
            <a:r>
              <a:t>Visible-workspace stress success: 0.333.</a:t>
            </a:r>
          </a:p>
          <a:p>
            <a:pPr>
              <a:defRPr sz="1700"/>
            </a:pPr>
            <a:r>
              <a:t>This validates sim motion, not full tray transport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636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Video: report/videos/real_gz_camera_phase3a_controlled_sim.mp4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